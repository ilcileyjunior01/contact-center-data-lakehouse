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64008" cy="68580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743200" cy="4389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08176"/>
            <a:ext cx="2651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29967"/>
            <a:ext cx="2743200" cy="438912"/>
          </a:xfrm>
          <a:prstGeom prst="rect">
            <a:avLst/>
          </a:prstGeom>
          <a:solidFill>
            <a:srgbClr val="E2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2651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PySpark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88336"/>
            <a:ext cx="2743200" cy="438912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724912"/>
            <a:ext cx="2651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Airflow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46704"/>
            <a:ext cx="2743200" cy="43891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383280"/>
            <a:ext cx="2651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Iceberg 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05072"/>
            <a:ext cx="2743200" cy="438912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041648"/>
            <a:ext cx="2651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Redshift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63440"/>
            <a:ext cx="2743200" cy="4389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700016"/>
            <a:ext cx="26517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Glue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371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Contact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7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9BFF"/>
                </a:solidFill>
              </a:rPr>
              <a:t>Data Lakehouse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71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8D6E5"/>
                </a:solidFill>
              </a:rPr>
              <a:t>Pipeline end-to-end na AWS com arquitetura Medallion,
modelagem Star Schema e orquestração com Apache Airflow.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160520"/>
            <a:ext cx="75895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F9EBB"/>
                </a:solidFill>
              </a:rPr>
              <a:t>Ilciley Junior  ·  Engenheiro de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9BFF"/>
                </a:solidFill>
              </a:rPr>
              <a:t>github.com/ilcileyjunior01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O que será apresentado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56616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3560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17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Problema de 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Por que esse projeto existe?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24328"/>
            <a:ext cx="356616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34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157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Arquitetura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27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Stack AWS e camadas do Lakehouse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22776"/>
            <a:ext cx="356616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325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1421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256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Tipagem, deduplicação e quarentena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21224"/>
            <a:ext cx="356616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309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126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Orquestração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724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Apache Airflow — DAGs e fluxo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325880"/>
            <a:ext cx="548640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43560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417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Planos de Contingência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828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O que acontece quando um job falha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24328"/>
            <a:ext cx="548640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7340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7157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1272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KPIs e dados reais carregados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22776"/>
            <a:ext cx="5486400" cy="107899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0325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B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0142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Stack &amp; Custo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4256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Tecnologias e custo &lt; $5/mês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Problema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Dados dispersos impossibilitam decisões ágeis no Contact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743200" cy="42062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900"/>
                </a:solidFill>
              </a:rPr>
              <a:t>Dados Dispersos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33472"/>
            <a:ext cx="21945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6E5"/>
                </a:solidFill>
              </a:rPr>
              <a:t>Chamadas, tickets, chats e WhatsApp
em sistemas isolados. Nenhuma visão
unificada do atendimento.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417320"/>
            <a:ext cx="2743200" cy="42062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214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900"/>
                </a:solidFill>
              </a:rPr>
              <a:t>Volume &amp; Velocidade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8" y="2633472"/>
            <a:ext cx="21945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7432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6E5"/>
                </a:solidFill>
              </a:rPr>
              <a:t>Milhares de eventos por dia. A
infraestrutura legada não acompanha
o crescimento da operação.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1417320"/>
            <a:ext cx="2743200" cy="42062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1214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900"/>
                </a:solidFill>
              </a:rPr>
              <a:t>Decisões no Escuro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0256" y="2633472"/>
            <a:ext cx="21945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7432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6E5"/>
                </a:solidFill>
              </a:rPr>
              <a:t>Relatórios manuais em Excel,
demora de dias, erros frequentes
e dados desatualizados.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90304" y="1417320"/>
            <a:ext cx="2743200" cy="42062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7464" y="15544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12140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900"/>
                </a:solidFill>
              </a:rPr>
              <a:t>Conformidade LGPD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64624" y="2633472"/>
            <a:ext cx="21945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27432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6E5"/>
                </a:solidFill>
              </a:rPr>
              <a:t>Dados pessoais de clientes (CPF,
e-mail, telefone) expostos sem
mascaramento ou controle de acesso.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</a:rPr>
              <a:t>→  Solução: Data Lakehouse centralizado, automatizado e governado na 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Arquitetura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Arquitetura Medallion: Fonte → Bronze → Silver → Gold →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aws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823192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Integridade garantida em cada camada do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8892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Tipagem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Cast explícito em todos os jobs PySpark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9748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Timestamps: timestamp(6) → TimestampType()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47472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Flags booleanos: SMALLINT 0/1 (compatível Redshift)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5196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Numerais: nr_duracao → IntegerType / DoubleType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50292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Datas: DateType com format '%Y-%m-%d'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88920" cy="41148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Deduplicação CDC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92024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Window.partitionBy(pk).orderBy(dt_cdc_evento DESC)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69748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row_number() == 1 → mantém evento mais recente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47472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Elimina duplicatas antes do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25196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Glue Job Bookmarks: impede releitura de arquivos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50292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Watermark JSON por tabela em S3/checkpoints/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27889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Quarentena Automática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192024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Registros com PK nula → isolados com motivo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69748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Timestamps ausentes → rejeitados com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47472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Particionados por ano/mês/dia de ingestão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25196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Nunca causam falha no job principal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0292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Monitorados via CloudWatch Logs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78892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MERGE ACID + Hash MD5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192024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hash_registro = MD5(todas colunas negócio)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269748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MERGE atualiza apenas se hash mudou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7" y="347472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Idempotente: reprocessar não duplica dados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7" y="425196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Iceberg v2: ACID, time travel, schema evolution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5029200"/>
            <a:ext cx="25786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Partição sobrescrita via overwritePartitions()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Orquestração — Apache Airflow 2.9.3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2 DAGs orquestrando 40 Glue Jobs com paralelismo controlado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57432" cy="29718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FF"/>
                </a:solidFill>
              </a:rPr>
              <a:t>DAG 1: cc_pipeline_diario  [schedule: 0 2 * * *]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9EBB"/>
                </a:solidFill>
              </a:rPr>
              <a:t>start_layer: bronze | silver | gold | redshift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554480" cy="2331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463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início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69748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783080"/>
            <a:ext cx="1554480" cy="2331720"/>
          </a:xfrm>
          <a:prstGeom prst="rect">
            <a:avLst/>
          </a:prstGeom>
          <a:solidFill>
            <a:srgbClr val="5C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79" y="1874519"/>
            <a:ext cx="1463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Wave 1
Bronze→Silver
18 jobs
(paralelo)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69748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783080"/>
            <a:ext cx="1554480" cy="2331720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874519"/>
            <a:ext cx="1463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Wave 2
Dimensões Gold
11 jobs
(paralelo)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69748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783080"/>
            <a:ext cx="1554480" cy="2331720"/>
          </a:xfrm>
          <a:prstGeom prst="rect">
            <a:avLst/>
          </a:prstGeom>
          <a:solidFill>
            <a:srgbClr val="4A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874519"/>
            <a:ext cx="1463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Wave 3
Fatos Base
7 jobs
(paralelo)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69748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783080"/>
            <a:ext cx="1554480" cy="2331720"/>
          </a:xfrm>
          <a:prstGeom prst="rect">
            <a:avLst/>
          </a:prstGeom>
          <a:solidFill>
            <a:srgbClr val="3A0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874519"/>
            <a:ext cx="1463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Wave 4
Fatos Dep.
4 jobs
(sequencial)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69748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1783080"/>
            <a:ext cx="1554480" cy="2331720"/>
          </a:xfrm>
          <a:prstGeom prst="rect">
            <a:avLst/>
          </a:prstGeom>
          <a:solidFill>
            <a:srgbClr val="00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874519"/>
            <a:ext cx="1463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Trigger
cc_carga_
redshift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9EBB"/>
                </a:solidFill>
              </a:rPr>
              <a:t>ShortCircuitOperator (trigger_rule=ALL_DONE): gates permitem pular camadas sem quebrar o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11457432" cy="160020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36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DAG 2: cc_carga_redshift  [schedule: None — acionada pela DAG 1 ou manualmente]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66360"/>
            <a:ext cx="1965960" cy="9144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303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início_carga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32888" y="54406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5166360"/>
            <a:ext cx="1965960" cy="9144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52303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11 dims
(paralelo)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54406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5166360"/>
            <a:ext cx="1965960" cy="9144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52303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dims
carregadas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54406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5166360"/>
            <a:ext cx="1965960" cy="9144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52303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11 fatos
(paralelo)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54406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5166360"/>
            <a:ext cx="1965960" cy="91440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5230368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carga
concluída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722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9EBB"/>
                </a:solidFill>
              </a:rPr>
              <a:t>Estratégia: Athena UNLOAD (Iceberg → CSV) → S3 staging → Redshift COPY  |  TRUNCATE + COPY por tabela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Planos de Contingência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Resiliência end-to-end: detecção, isolamento e recuperação sem retrabalho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8892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Job Bronze → Silver falha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CloudWatch Alarm dispara → SNS notifica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999232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Job Bookmark preserva posição: retry sem
reprocessar o que já passou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078224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Trigger: start_layer=bronze para reprocessar
apenas aquela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5157216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Registros inválidos → Quarentena (não bloqueiam)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889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Job Silver → Gold falha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2024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ShortCircuitOperator: waves seguintes são
marcadas SKIPPED (não FAILED)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999232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Bronze intacto: dados brutos preservados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4078224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Retry: start_layer=silver — reprocessa Gold
e Redshift sem tocar Bronze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5157216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MERGE idempotente: reexecutar não duplica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371600"/>
            <a:ext cx="2788920" cy="41148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Carga Redshift falha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192024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DAG cc_carga_redshift pode ser acionada
manualmente a qualquer momento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999232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start_layer=redshift: pula todo o pipeline,
executa só TRUNCATE +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078224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Gold em S3 sempre disponível como fallback
(Athena consulta direto se necessário)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5157216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Auto-pause: workgroup não gera custo
enquanto está em standby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7889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371600"/>
            <a:ext cx="278892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41732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Dados corrompidos na origem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7" y="1920240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Iceberg v2 Time Travel: SELECT AS OF
permite voltar a versão anterior da tabela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2999232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Bronze imutável: dado original nunca
é sobrescrito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4078224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Watermark JSON: ajustar para reprocessar
a partir de qualquer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5157216"/>
            <a:ext cx="2578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• Quarentena auditável: rastreio de todos
os registros rejeitados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Modelo de Dados — Star Schema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11 Dimensões + 11 Tabelas Fato — Iceberg v2, Parquet/Snappy, particionadas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9496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DIMENSÕES (11)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0292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9933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sk_data = yyyyMMdd (INT)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8658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8658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4.159 clientes, PII mascarado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7797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dim_operador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797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208 operadores, sk_supervisor (auto-ref)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1729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dim_fila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729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17 filas, SLA em segundos/minutos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5661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dim_canal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566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Telefone · Chat · WhatsApp ·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95935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dim_campanha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593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25 campanhas, vigência e 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3525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35254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26 skills, faixa de nível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74573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dim_status_chamada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745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fl_chamada_concluida, fl_abandonada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138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dim_status_ticket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138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fl_aberto · fl_resolvido · fl_cancelado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5321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dim_categoria_ticket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532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5 categorias de suporte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9253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dim_prioridade_ticket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9253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CRITICA · ALTA · MEDIA · BAIXA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371600"/>
            <a:ext cx="5760720" cy="489204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444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FF"/>
                </a:solidFill>
              </a:rPr>
              <a:t>TABELAS FATO (11)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847088"/>
            <a:ext cx="5394960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9933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fato_chamada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9933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4.168 registros · sk_data_inicio (part.)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238658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38658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2.059 registros · SLA, TRT em minutos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27797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fato_qualidade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7797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2.504 avaliações · nota, faixa,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31729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fato_discagem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17296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4.189 discagens · fl_atendida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3566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fato_ura_navegacao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5661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4.126 navegações · fl_abandonou_ura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39593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9593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2.113 sessões · duração, fl_completo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43525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fato_whatsapp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35254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1.386 atendimentos · nr_telefone_mask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474573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fato_jornada_operador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74573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5.985 jornadas · horas, presença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1072" y="51389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fato_metricas_operacionais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513892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4.187 métricas · TMA, TME, SLA fila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5532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fato_interacao_ticket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5321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2.494 interações · canal, tamanho obs.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1072" y="59253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BFF"/>
                </a:solidFill>
              </a:rPr>
              <a:t>fato_mensagem_chat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92531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D6E5"/>
                </a:solidFill>
              </a:rPr>
              <a:t>4.905 mensagens · remetente, chars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9EBB"/>
                </a:solidFill>
              </a:rPr>
              <a:t>Registro sentinela sk = -1 (DESCONHECIDO) em todas as dimensões — integridade referencial garantida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Resultados — Dados Reais Carregados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Execução de referência: 2026-07-10 a 14  |  Pipeline 100% validado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03120" cy="14173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9BFF"/>
                </a:solidFill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</a:rPr>
              <a:t>Jobs PySpark
executados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371600"/>
            <a:ext cx="2103120" cy="14173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4475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</a:rPr>
              <a:t>Tabelas Gold
no Redshift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2103120" cy="14173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4475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CC71"/>
                </a:solidFill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</a:rPr>
              <a:t>Views KPI
validadas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19" y="1371600"/>
            <a:ext cx="2103120" cy="14173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144475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9900"/>
                </a:solidFill>
              </a:rPr>
              <a:t>240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</a:rPr>
              <a:t>Testes
passando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371600"/>
            <a:ext cx="2103120" cy="14173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44752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CC71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D6E5"/>
                </a:solidFill>
              </a:rPr>
              <a:t>Orphan
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11457432" cy="32461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906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Views KPI — Redshift Serverless (schema gold)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20440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vw_kpi_01  ·  Volume Chamadas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144 linhas  |  TMA abandono ~1 min, atendidas ~23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3520440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vw_kpi_02  ·  Performance Operadores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840480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208 linhas  |  Top: 29 chamadas, TMA 18,36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3520440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vw_kpi_03  ·  Qualidade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3840480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1.523 linhas  |  Nota média 7,0–10,0 por operador/mês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16552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vw_kpi_04  ·  Volume Tickets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36592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1.350 linhas  |  Categorias: Elogio · Reclamação · Solicitação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416552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vw_kpi_05  ·  Eficiência Tickets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4736592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144 linhas  |  TRT médio 3,7–9,4h, % SLA cumprido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9016" y="4416552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vw_kpi_06  ·  Volume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4736592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72 linhas  |  WhatsApp ~67 min vs Chat ~30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31266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vw_kpi_08  ·  Campanhas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632704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25 linhas  |  Taxa de atendimento 55–66%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8" y="531266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vw_kpi_09  ·  Métricas de Fila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632704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611 linhas  |  Nível de serviço 86–93% por fila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9016" y="531266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vw_kpi_12  ·  Efetividade 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5632704"/>
            <a:ext cx="3611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252 linhas  |  Opção mais usada: 4 - FALAR COM OPERADOR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Conformidade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Dados pessoais mascarados de forma irreversível na camada Silver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937260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4475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Campo 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447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4447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Exemplo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14447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Camada de Acesso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47088"/>
            <a:ext cx="9372600" cy="47548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92024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CPF / Nr. Documento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9202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3 dígitos + ***** + 2 dígitos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920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123*****45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19202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Bronze (restrito)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77440"/>
            <a:ext cx="9372600" cy="4754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45059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E-mail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505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Domínio preservado, local mascarado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4505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***@gmail.com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4505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Bronze (restrito)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07791"/>
            <a:ext cx="9372600" cy="47548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980944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Telefone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9809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6 asteriscos + 4 últimos dígitos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9809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******1234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29809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Bronze (restrito)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38144"/>
            <a:ext cx="9372600" cy="4754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51129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5112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5 primeiros + ***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5112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01310***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35112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Bronze (restrito)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68496"/>
            <a:ext cx="9372600" cy="47548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04164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Login do operador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0416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3 primeiros chars + ***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0416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joh***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40416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Bronze (restrito)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98848"/>
            <a:ext cx="9372600" cy="4754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57200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Conteúdo de 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572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Drop completo → nr_tamanho_chars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4572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</a:rPr>
              <a:t>[removido]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1856" y="45720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Nunca salvo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29200"/>
            <a:ext cx="9372600" cy="475488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510235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Obs. de ticket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1023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Drop completo → nr_tamanho_obs_chars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51023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</a:rPr>
              <a:t>[removido]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1856" y="51023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Nunca salvo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559552"/>
            <a:ext cx="9372600" cy="475488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5632704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Feedback avaliação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6327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Drop completo → nr_tamanho_feedback_chars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56327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</a:rPr>
              <a:t>[removido]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1856" y="56327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6E5"/>
                </a:solidFill>
              </a:rPr>
              <a:t>Nunca salvo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1389888"/>
            <a:ext cx="1947672" cy="4828032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0" y="14630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E44AD"/>
                </a:solidFill>
              </a:rPr>
              <a:t>Controles de
Acesso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48672" y="2103120"/>
            <a:ext cx="1783080" cy="658368"/>
          </a:xfrm>
          <a:prstGeom prst="rect">
            <a:avLst/>
          </a:prstGeom>
          <a:solidFill>
            <a:srgbClr val="3A1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85248" y="2157984"/>
            <a:ext cx="1709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AWS Lake
Formation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48672" y="2926079"/>
            <a:ext cx="1783080" cy="658368"/>
          </a:xfrm>
          <a:prstGeom prst="rect">
            <a:avLst/>
          </a:prstGeom>
          <a:solidFill>
            <a:srgbClr val="3A1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85248" y="2980944"/>
            <a:ext cx="1709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Controle por
colunas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48672" y="3749039"/>
            <a:ext cx="1783080" cy="658368"/>
          </a:xfrm>
          <a:prstGeom prst="rect">
            <a:avLst/>
          </a:prstGeom>
          <a:solidFill>
            <a:srgbClr val="3A1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5248" y="3803904"/>
            <a:ext cx="1709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Bronze: IAM
restrito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48672" y="4572000"/>
            <a:ext cx="1783080" cy="658368"/>
          </a:xfrm>
          <a:prstGeom prst="rect">
            <a:avLst/>
          </a:prstGeom>
          <a:solidFill>
            <a:srgbClr val="3A1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85248" y="4626864"/>
            <a:ext cx="1709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CloudTrail:
auditoria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48672" y="5394960"/>
            <a:ext cx="1783080" cy="658368"/>
          </a:xfrm>
          <a:prstGeom prst="rect">
            <a:avLst/>
          </a:prstGeom>
          <a:solidFill>
            <a:srgbClr val="3A1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85248" y="5449824"/>
            <a:ext cx="1709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Silver+: PII
mascarado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38251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9EBB"/>
                </a:solidFill>
              </a:rPr>
              <a:t>Dado original permanece APENAS no Bronze — acesso controlado via IAM + Lake 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Stack Tecnológica &amp; Custo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9EBB"/>
                </a:solidFill>
              </a:rPr>
              <a:t>Arquitetura serverless e pay-per-use — custo &lt; $5/mês em escala de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11274552" cy="36576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1783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3840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356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Processamento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74519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</a:rPr>
              <a:t>PySpark 3.3
AWS Glue 4.0
EMR Serverless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1371600"/>
            <a:ext cx="3566160" cy="1783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8" y="1371600"/>
            <a:ext cx="3566160" cy="384048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4356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Orquestração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1874519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</a:rPr>
              <a:t>Apache Airflow 2.9.3
Docker Compose
Glue Workflows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371600"/>
            <a:ext cx="3566160" cy="1783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371600"/>
            <a:ext cx="3566160" cy="384048"/>
          </a:xfrm>
          <a:prstGeom prst="rect">
            <a:avLst/>
          </a:prstGeom>
          <a:solidFill>
            <a:srgbClr val="169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14356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Armazenamento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3" y="1874519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</a:rPr>
              <a:t>Amazon S3
Iceberg v2
Parquet + Snappy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3566160" cy="1783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3566160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4472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Catálogo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88620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</a:rPr>
              <a:t>AWS Glue Data Catalog
Amazon Athena
Lake Formation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8808" y="3383280"/>
            <a:ext cx="3566160" cy="1783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78808" y="3383280"/>
            <a:ext cx="3566160" cy="384048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34472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 Warehouse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388620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</a:rPr>
              <a:t>Redshift Serverless
8 RPUs · auto-pause
Data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6" y="3383280"/>
            <a:ext cx="3566160" cy="178308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3383280"/>
            <a:ext cx="3566160" cy="384048"/>
          </a:xfrm>
          <a:prstGeom prst="rect">
            <a:avLst/>
          </a:prstGeom>
          <a:solidFill>
            <a:srgbClr val="623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3" y="34472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IaC &amp; 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388620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6E5"/>
                </a:solidFill>
              </a:rPr>
              <a:t>Terraform
GitHub Actions
7 jobs CI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40680"/>
            <a:ext cx="11457432" cy="1188720"/>
          </a:xfrm>
          <a:prstGeom prst="rect">
            <a:avLst/>
          </a:prstGeom>
          <a:solidFill>
            <a:srgbClr val="1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04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</a:rPr>
              <a:t>Custo Estimado (escala de demonstração)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Ocioso (sem jobs)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36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~$0,57/mês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2 runs completos/mês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6352" y="6236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~$5/mês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Glue Jobs (40×G.1X)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6236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~$3,20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Redshift auto-pause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5" y="6236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~$0,50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9488" y="5897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9EBB"/>
                </a:solidFill>
              </a:rPr>
              <a:t>S3 + Athena + outros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6236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~$0,13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6400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0972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783080"/>
            <a:ext cx="758952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9659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Pipeline end-to-end executado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295144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40 jobs PySpark validados — Bronze → Silver → Gold → Redshift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1576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1576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Data Quality garantido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44951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Deduplicação CDC, tipagem, quarentena, MERGE ACID idempotente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465576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6557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Orquestração robusta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Airflow 2.9.3 com reprocessamento por camada sem tocar a origem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215383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15383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LGPD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54456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PII mascarado irreversivelmente na Silver; Bronze controlado por 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965192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965192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Resultados reais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29437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22 tabelas + 9 views KPI carregadas · 55K+ registros · 0 orphans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715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71500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Custo &lt; $5/mês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6044184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EBB"/>
                </a:solidFill>
              </a:rPr>
              <a:t>Serverless, auto-pause, pay-per-use em todas as camadas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00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Ilciley Junior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6568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9BFF"/>
                </a:solidFill>
              </a:rPr>
              <a:t>github.com/ilcileyjunior01  ·  linkedin.com/in/ilcileyjunior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37160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D4AA"/>
                </a:solidFill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0116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9EBB"/>
                </a:solidFill>
              </a:rPr>
              <a:t>Glue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63347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D4AA"/>
                </a:solidFill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2735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9EBB"/>
                </a:solidFill>
              </a:rPr>
              <a:t>Tabelas 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895344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D4AA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354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9EBB"/>
                </a:solidFill>
              </a:rPr>
              <a:t>Views KPI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15721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D4AA"/>
                </a:solidFill>
              </a:rPr>
              <a:t>240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9729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9EBB"/>
                </a:solidFill>
              </a:rPr>
              <a:t>Testes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